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89d0ad48d40f3" /><Relationship Type="http://schemas.openxmlformats.org/officeDocument/2006/relationships/extended-properties" Target="/docProps/app.xml" Id="Rde2cbdce52f44a94" /><Relationship Type="http://schemas.openxmlformats.org/officeDocument/2006/relationships/officeDocument" Target="/ppt/presentation.xml" Id="R74b2e090db9145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60aba81064035"/>
  </p:sldMasterIdLst>
  <p:notesMasterIdLst>
    <p:notesMasterId xmlns:r="http://schemas.openxmlformats.org/officeDocument/2006/relationships" r:id="R3c552dfbbbeb43b6"/>
  </p:notesMasterIdLst>
  <p:sldIdLst>
    <p:sldId xmlns:r="http://schemas.openxmlformats.org/officeDocument/2006/relationships" id="256" r:id="Ra321c8cb22234f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982e8d98f24505" /><Relationship Type="http://schemas.openxmlformats.org/officeDocument/2006/relationships/slideMaster" Target="/ppt/slideMasters/slideMaster1.xml" Id="R8a160aba81064035" /><Relationship Type="http://schemas.openxmlformats.org/officeDocument/2006/relationships/notesMaster" Target="/ppt/notesMasters/notesMaster1.xml" Id="R3c552dfbbbeb43b6" /><Relationship Type="http://schemas.openxmlformats.org/officeDocument/2006/relationships/presProps" Target="/ppt/presProps.xml" Id="R597dc41d86e048af" /><Relationship Type="http://schemas.openxmlformats.org/officeDocument/2006/relationships/viewProps" Target="/ppt/viewProps.xml" Id="R3ca9d16f510b4f16" /><Relationship Type="http://schemas.openxmlformats.org/officeDocument/2006/relationships/tableStyles" Target="/ppt/tableStyles.xml" Id="R9b44898373634f65" /><Relationship Type="http://schemas.openxmlformats.org/officeDocument/2006/relationships/slide" Target="/ppt/slides/slide1.xml" Id="Ra321c8cb22234f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b8a57ed69a47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dfa553db304358" /><Relationship Type="http://schemas.openxmlformats.org/officeDocument/2006/relationships/notesMaster" Target="/ppt/notesMasters/notesMaster1.xml" Id="R973b6fe353d744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a15e334de44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6f71f587ac499e" /><Relationship Type="http://schemas.openxmlformats.org/officeDocument/2006/relationships/slideLayout" Target="/ppt/slideLayouts/slideLayout1.xml" Id="Re9ea3d17e10b4f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ea3d17e10b4f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20fb9643e43b5" /><Relationship Type="http://schemas.openxmlformats.org/officeDocument/2006/relationships/image" Target="/ppt/media/image.png" Id="R738e85515a02444d" /><Relationship Type="http://schemas.openxmlformats.org/officeDocument/2006/relationships/image" Target="/ppt/media/image2.png" Id="R97e306e4135247f4" /><Relationship Type="http://schemas.openxmlformats.org/officeDocument/2006/relationships/notesSlide" Target="/ppt/notesSlides/notesSlide1.xml" Id="Rc06e17ea5df345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AD26B-DB64-45FA-8303-C00B375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21377-142A-48ED-963E-22A1A73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7BF8E-97A2-4BFD-AC5C-C3CBD529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F7C80-C9DF-4FBE-83CB-3020B50B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When AI Image Detectors Travel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E9C33-DE23-43C0-8596-736C32C8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E2"/>
                </a:solidFill>
                <a:latin typeface="Aptos"/>
                <a:ea typeface="Aptos"/>
                <a:cs typeface="Aptos"/>
              </a:rPr>
              <a:t>Source-heldout diagnostics for physical, neural, and frozen-encoder forensics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EDF9E-7DC0-4EC7-B5E6-28C0BC18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DDE7E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DE7E2"/>
                </a:solidFill>
                <a:latin typeface="Aptos"/>
                <a:ea typeface="Aptos"/>
                <a:cs typeface="Aptos"/>
              </a:rPr>
              <a:t>DFRWS-USA 2026 poster draft</a:t>
            </a:r>
          </a:p>
          <a:p xmlns:a="http://schemas.openxmlformats.org/drawingml/2006/main">
            <a:pPr algn="r">
              <a:defRPr sz="938" b="0">
                <a:solidFill>
                  <a:srgbClr val="DDE7E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DE7E2"/>
                </a:solidFill>
                <a:latin typeface="Aptos"/>
                <a:ea typeface="Aptos"/>
                <a:cs typeface="Aptos"/>
              </a:rPr>
              <a:t>AI image forensics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E0B5C-7A97-457F-9FA8-27E4B526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57275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Same-domain accuracy is the warm-up. Under generator and processing shift, ranking, calibration, fake-call rate, and high-confidence triage separate.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F560B-6C03-40DC-9750-F917E30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002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6B6D"/>
                </a:solidFill>
                <a:latin typeface="Aptos"/>
                <a:ea typeface="Aptos"/>
                <a:cs typeface="Aptos"/>
              </a:rPr>
              <a:t>KEY NUMBERS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FDAA7-13DC-424F-B49C-1FC76403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192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97680-3860-4817-AA5C-70CB973F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1927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EF8EF-616B-422D-888D-8BB1B85B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54A24B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54A24B"/>
                </a:solidFill>
                <a:latin typeface="Aptos Display"/>
                <a:ea typeface="Aptos Display"/>
                <a:cs typeface="Aptos Display"/>
              </a:rPr>
              <a:t>0.8450 / 0.9177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8905A-7F0F-4727-A6B2-348BE31B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physics-guided same-domain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A8924-5679-4C99-8988-02CDD6A8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beats combined_v3 and ResNet-18 on Ishu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2C91F-21FA-4DCA-9E69-B0FA3DE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479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29D7A-6778-4310-98EE-ECE9738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47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08FF0-7226-4FCC-B91C-062540C6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4C78A8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4C78A8"/>
                </a:solidFill>
                <a:latin typeface="Aptos Display"/>
                <a:ea typeface="Aptos Display"/>
                <a:cs typeface="Aptos Display"/>
              </a:rPr>
              <a:t>0.6363 / 0.8641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B0292-453B-4424-85E1-FF715B83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13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CLIP transfer branch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C3B18-2578-4909-B46A-09E076FB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strongest Ishu -&gt; MS standalone ranker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6A226-2581-4748-813D-6BCA679F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45332-1511-4CCD-BC27-F9A403D5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9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879F5-40F6-4336-97CA-54E8DC3F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B279A2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B279A2"/>
                </a:solidFill>
                <a:latin typeface="Aptos Display"/>
                <a:ea typeface="Aptos Display"/>
                <a:cs typeface="Aptos Display"/>
              </a:rPr>
              <a:t>47.5% @ 92.6%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AB0CB-3FF3-4D48-920D-B11EF4C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strict triage coverage / 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AA689-E574-4627-B724-C612EBF1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909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source-heldout 5% budget, CLIP branch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387FE-CDBB-4075-87F3-76FD3154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053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3486D-086D-43E8-8F4B-5816065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053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093A8-A158-475C-A303-0DF2F390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58518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F58518"/>
                </a:solidFill>
                <a:latin typeface="Aptos Display"/>
                <a:ea typeface="Aptos Display"/>
                <a:cs typeface="Aptos Display"/>
              </a:rPr>
              <a:t>0.7632 / 0.8361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B8085-835F-44A5-B9F9-648BE83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reverse tuned fusion 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7C22C-9284-4197-95ED-E3292676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source fake-rate cap 0.40 balances decisions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EC03D-A3D7-4C1B-B47D-DDC0A3EF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00200"/>
            <a:ext cx="5695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F9DFF7-064C-4ECE-8EDA-2398998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6B6D"/>
                </a:solidFill>
                <a:latin typeface="Aptos"/>
                <a:ea typeface="Aptos"/>
                <a:cs typeface="Aptos"/>
              </a:rPr>
              <a:t>TRANSFER FRONTIER: CLIP RANKS BEST, FUSION REMAINS DIAGNOSTIC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e85515a02444d"/>
          <a:stretch xmlns:a="http://schemas.openxmlformats.org/drawingml/2006/main"/>
        </p:blipFill>
        <p:spPr>
          <a:xfrm xmlns:a="http://schemas.openxmlformats.org/drawingml/2006/main">
            <a:off x="4192802" y="1943100"/>
            <a:ext cx="2758646" cy="17907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811B7-113F-4751-94A0-D5EF7814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38600"/>
            <a:ext cx="5695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4E36E-9DA6-44DC-931D-B2F3876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ROBUSTNESS: JPEG30, BLUR, RESIZE, AND SCREENSHOT SHIFT OPERATING POINTS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306e4135247f4"/>
          <a:stretch xmlns:a="http://schemas.openxmlformats.org/drawingml/2006/main"/>
        </p:blipFill>
        <p:spPr>
          <a:xfrm xmlns:a="http://schemas.openxmlformats.org/drawingml/2006/main">
            <a:off x="3095625" y="4362450"/>
            <a:ext cx="4953000" cy="15240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994F3B-2EDD-49F5-839C-DAAF71B4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3048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56E8CB-5846-4C86-977D-7D9668B7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POSTER CLAIMS TO CARRY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4C26E1-879E-415C-84FF-9A7BE15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190DCC-6C22-410D-9E5E-D2B0DFFA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24075"/>
            <a:ext cx="2571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Evaluate by source shift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FF518F-C1E1-4843-B654-A9BA3C53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145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Same-domain scores hide shifts in generator family, calibration, and default threshold behavior.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CAE016-E7CB-421C-99CD-195E4742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BF9DCC-65BB-420F-A50C-ECEB60B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38450"/>
            <a:ext cx="2571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Use CLIP as the ranker to beat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7E1598-180D-4BE0-A4D4-85AAF5DC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28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Frozen CLIP is the current transfer frontier; SCP-Fusion should be framed as diagnostic, not leaderboard replacement.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7AF0BC-D2B9-4C73-AF84-B2256621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462F47-47A4-42C9-A3CB-7A1CDF6F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52825"/>
            <a:ext cx="2571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Choose operating points explicitly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3D07FD-6F1D-4464-B851-9722F836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433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Source fake-rate caps and triage thresholds make binary decisions more defensible than a universal 0.5 cutoff.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03991B-A761-4FD7-947C-9B2CC2D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FF3A08-92E9-4275-B521-DC6CDBC4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67200"/>
            <a:ext cx="2571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Keep robustness honest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B8155B-24B4-447B-B01E-4E21B383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577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JPEG30 under-calls generated images, while blur/resize/screenshot hurt ranking and calibration.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B32F6D-49ED-4BB9-A895-894456F3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91125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6B482"/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 not overclaim: the photometric branch is a single-image physical/signal proxy, not true multi-light photometric stereo.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A56B41-E38D-40A5-B1D9-D9687D06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1D05AD-71BE-4E6C-845B-530AB8D8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8175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Sources: reports/assets/publication_core_results.csv, reports/dfrws_poster_brief_2026_06_13.md, and checked-in publication figures. Repo: github.com/DrStrangel0ve/ai-image-forensics-comparison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C16BBD-17AA-4CDF-9864-BBE2C98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817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Generated 2026-06-13</a:t>
            </a:r>
          </a:p>
        </p:txBody>
      </p:sp>
    </p:spTree>
    <p:extLst>
      <p:ext uri="{BB962C8B-B14F-4D97-AF65-F5344CB8AC3E}">
        <p14:creationId xmlns:p14="http://schemas.microsoft.com/office/powerpoint/2010/main" val="367872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2026-06-13T09:46:41.7580000Z</dcterms:created>
  <dcterms:modified xsi:type="dcterms:W3CDTF">2026-06-13T09:46:41.7580000Z</dcterms:modified>
</coreProperties>
</file>