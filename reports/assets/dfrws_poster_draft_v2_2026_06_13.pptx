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e83d3f5bec419e" /><Relationship Type="http://schemas.openxmlformats.org/officeDocument/2006/relationships/extended-properties" Target="/docProps/app.xml" Id="Rfa8ba04fd4e44969" /><Relationship Type="http://schemas.openxmlformats.org/officeDocument/2006/relationships/officeDocument" Target="/ppt/presentation.xml" Id="Rea99ca67683048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a471cab5fd48a6"/>
  </p:sldMasterIdLst>
  <p:notesMasterIdLst>
    <p:notesMasterId xmlns:r="http://schemas.openxmlformats.org/officeDocument/2006/relationships" r:id="Rb2384fd891db4eb6"/>
  </p:notesMasterIdLst>
  <p:sldIdLst>
    <p:sldId xmlns:r="http://schemas.openxmlformats.org/officeDocument/2006/relationships" id="256" r:id="Rb8273fca94bc417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ef6737d8414c25" /><Relationship Type="http://schemas.openxmlformats.org/officeDocument/2006/relationships/slideMaster" Target="/ppt/slideMasters/slideMaster1.xml" Id="Rfca471cab5fd48a6" /><Relationship Type="http://schemas.openxmlformats.org/officeDocument/2006/relationships/notesMaster" Target="/ppt/notesMasters/notesMaster1.xml" Id="Rb2384fd891db4eb6" /><Relationship Type="http://schemas.openxmlformats.org/officeDocument/2006/relationships/presProps" Target="/ppt/presProps.xml" Id="R89cba6f4bdc44d02" /><Relationship Type="http://schemas.openxmlformats.org/officeDocument/2006/relationships/viewProps" Target="/ppt/viewProps.xml" Id="R84acb15c40dd4e8f" /><Relationship Type="http://schemas.openxmlformats.org/officeDocument/2006/relationships/tableStyles" Target="/ppt/tableStyles.xml" Id="Rf06c6e9d4f9d46a9" /><Relationship Type="http://schemas.openxmlformats.org/officeDocument/2006/relationships/slide" Target="/ppt/slides/slide1.xml" Id="Rb8273fca94bc41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5bf2e7f61b48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ef1c8feba241e3" /><Relationship Type="http://schemas.openxmlformats.org/officeDocument/2006/relationships/notesMaster" Target="/ppt/notesMasters/notesMaster1.xml" Id="Rf5f00ce1c5e94a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0a0258e3974f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4a3d6b96ad4689" /><Relationship Type="http://schemas.openxmlformats.org/officeDocument/2006/relationships/slideLayout" Target="/ppt/slideLayouts/slideLayout1.xml" Id="R4434e5f165244e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34e5f165244e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0f7553327f4c02" /><Relationship Type="http://schemas.openxmlformats.org/officeDocument/2006/relationships/image" Target="/ppt/media/image.png" Id="R5f0a78d54d654a78" /><Relationship Type="http://schemas.openxmlformats.org/officeDocument/2006/relationships/image" Target="/ppt/media/image2.png" Id="R29ac11155a474a79" /><Relationship Type="http://schemas.openxmlformats.org/officeDocument/2006/relationships/notesSlide" Target="/ppt/notesSlides/notesSlide1.xml" Id="R7fce941117a54d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D52C3BEC-EE19-40B2-9EB4-D7ACD0DA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43066B0-3F61-4C1F-919E-5856553D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C6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9BD06A5-78F3-4969-8758-443406BC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FC6D9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9FC6D9"/>
                </a:solidFill>
                <a:latin typeface="Aptos Display"/>
                <a:ea typeface="Aptos Display"/>
                <a:cs typeface="Aptos Display"/>
              </a:rPr>
              <a:t>DFRWS POSTER DRAFT V2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12A43BD-F004-45C7-A4AE-7C84476D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19100"/>
            <a:ext cx="514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When AI Image Detectors Travel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3011D5B3-BB7D-4BAB-9761-7B59A22D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00050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9E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DE9EF"/>
                </a:solidFill>
                <a:latin typeface="Aptos"/>
                <a:ea typeface="Aptos"/>
                <a:cs typeface="Aptos"/>
              </a:rPr>
              <a:t>Source-heldout diagnostics for physical, neural, and frozen-encoder forensics</a:t>
            </a:r>
          </a:p>
        </p:txBody>
      </p:sp>
      <p:sp>
        <p:nvSpPr>
          <p:cNvPr id="6" name="date">
            <a:extLst xmlns:a="http://schemas.openxmlformats.org/drawingml/2006/main">
              <a:ext uri="{FF2B5EF4-FFF2-40B4-BE49-F238E27FC236}">
                <a16:creationId xmlns:a16="http://schemas.microsoft.com/office/drawing/2014/main" id="{A15999B9-6A8B-4D8A-8D4F-4BC7FAA8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191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C4D4D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4D4DE"/>
                </a:solidFill>
                <a:latin typeface="Aptos"/>
                <a:ea typeface="Aptos"/>
                <a:cs typeface="Aptos"/>
              </a:rPr>
              <a:t>June 13,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7389D6-0F78-47FE-BE00-71EBD044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2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3202C"/>
                </a:solidFill>
                <a:latin typeface="Aptos Display"/>
                <a:ea typeface="Aptos Display"/>
                <a:cs typeface="Aptos Display"/>
              </a:rPr>
              <a:t>Key Evidence</a:t>
            </a:r>
          </a:p>
        </p:txBody>
      </p:sp>
      <p:sp>
        <p:nvSpPr>
          <p:cNvPr id="8" name="metric-Physics-guided Ishu">
            <a:extLst xmlns:a="http://schemas.openxmlformats.org/drawingml/2006/main">
              <a:ext uri="{FF2B5EF4-FFF2-40B4-BE49-F238E27FC236}">
                <a16:creationId xmlns:a16="http://schemas.microsoft.com/office/drawing/2014/main" id="{A85DB55D-13DC-4155-9B1F-91B0EF55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600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metric-Physics-guided Ishu-value">
            <a:extLst xmlns:a="http://schemas.openxmlformats.org/drawingml/2006/main">
              <a:ext uri="{FF2B5EF4-FFF2-40B4-BE49-F238E27FC236}">
                <a16:creationId xmlns:a16="http://schemas.microsoft.com/office/drawing/2014/main" id="{056C4AF2-37B7-4D99-A98B-BF654BF9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0.845 / 0.918</a:t>
            </a:r>
          </a:p>
        </p:txBody>
      </p:sp>
      <p:sp>
        <p:nvSpPr>
          <p:cNvPr id="10" name="metric-Physics-guided Ishu-label">
            <a:extLst xmlns:a="http://schemas.openxmlformats.org/drawingml/2006/main">
              <a:ext uri="{FF2B5EF4-FFF2-40B4-BE49-F238E27FC236}">
                <a16:creationId xmlns:a16="http://schemas.microsoft.com/office/drawing/2014/main" id="{EFAF7663-8527-4E15-8D66-62941382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13525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Physics-guided Ishu</a:t>
            </a:r>
          </a:p>
        </p:txBody>
      </p:sp>
      <p:sp>
        <p:nvSpPr>
          <p:cNvPr id="11" name="metric-Physics-guided Ishu-note">
            <a:extLst xmlns:a="http://schemas.openxmlformats.org/drawingml/2006/main">
              <a:ext uri="{FF2B5EF4-FFF2-40B4-BE49-F238E27FC236}">
                <a16:creationId xmlns:a16="http://schemas.microsoft.com/office/drawing/2014/main" id="{E890E784-7C53-4535-9534-552B9AA9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85975"/>
            <a:ext cx="13525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EAF2F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EAF2F6"/>
                </a:solidFill>
                <a:latin typeface="Aptos"/>
                <a:ea typeface="Aptos"/>
                <a:cs typeface="Aptos"/>
              </a:rPr>
              <a:t>same-domain accuracy / AUC</a:t>
            </a:r>
          </a:p>
        </p:txBody>
      </p:sp>
      <p:sp>
        <p:nvSpPr>
          <p:cNvPr id="12" name="metric-Frozen CLIP transfer">
            <a:extLst xmlns:a="http://schemas.openxmlformats.org/drawingml/2006/main">
              <a:ext uri="{FF2B5EF4-FFF2-40B4-BE49-F238E27FC236}">
                <a16:creationId xmlns:a16="http://schemas.microsoft.com/office/drawing/2014/main" id="{79DE37EF-FA5B-4FDA-BD6C-6251B0EA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38400"/>
            <a:ext cx="1600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7C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metric-Frozen CLIP transfer-value">
            <a:extLst xmlns:a="http://schemas.openxmlformats.org/drawingml/2006/main">
              <a:ext uri="{FF2B5EF4-FFF2-40B4-BE49-F238E27FC236}">
                <a16:creationId xmlns:a16="http://schemas.microsoft.com/office/drawing/2014/main" id="{FF931679-F13A-41C2-B7DD-5B170C4F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3365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0.636 / 0.864</a:t>
            </a:r>
          </a:p>
        </p:txBody>
      </p:sp>
      <p:sp>
        <p:nvSpPr>
          <p:cNvPr id="14" name="metric-Frozen CLIP transfer-label">
            <a:extLst xmlns:a="http://schemas.openxmlformats.org/drawingml/2006/main">
              <a:ext uri="{FF2B5EF4-FFF2-40B4-BE49-F238E27FC236}">
                <a16:creationId xmlns:a16="http://schemas.microsoft.com/office/drawing/2014/main" id="{2675A5F6-67DA-4B5B-B1F5-885868EA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38450"/>
            <a:ext cx="13525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Frozen CLIP transfer</a:t>
            </a:r>
          </a:p>
        </p:txBody>
      </p:sp>
      <p:sp>
        <p:nvSpPr>
          <p:cNvPr id="15" name="metric-Frozen CLIP transfer-note">
            <a:extLst xmlns:a="http://schemas.openxmlformats.org/drawingml/2006/main">
              <a:ext uri="{FF2B5EF4-FFF2-40B4-BE49-F238E27FC236}">
                <a16:creationId xmlns:a16="http://schemas.microsoft.com/office/drawing/2014/main" id="{BB5623CF-FE88-4484-8404-BA57FC13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00375"/>
            <a:ext cx="13525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EAF2F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EAF2F6"/>
                </a:solidFill>
                <a:latin typeface="Aptos"/>
                <a:ea typeface="Aptos"/>
                <a:cs typeface="Aptos"/>
              </a:rPr>
              <a:t>Ishu -&gt; MS COCOAI accuracy / AUC</a:t>
            </a:r>
          </a:p>
        </p:txBody>
      </p:sp>
      <p:sp>
        <p:nvSpPr>
          <p:cNvPr id="16" name="metric-Strict CLIP triage">
            <a:extLst xmlns:a="http://schemas.openxmlformats.org/drawingml/2006/main">
              <a:ext uri="{FF2B5EF4-FFF2-40B4-BE49-F238E27FC236}">
                <a16:creationId xmlns:a16="http://schemas.microsoft.com/office/drawing/2014/main" id="{91BE500A-1B9E-4B2F-9742-0CD5BF74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52800"/>
            <a:ext cx="1600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metric-Strict CLIP triage-value">
            <a:extLst xmlns:a="http://schemas.openxmlformats.org/drawingml/2006/main">
              <a:ext uri="{FF2B5EF4-FFF2-40B4-BE49-F238E27FC236}">
                <a16:creationId xmlns:a16="http://schemas.microsoft.com/office/drawing/2014/main" id="{747BC3FF-6AF4-459F-B9C3-464B24AA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4805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47.5% @ 92.6%</a:t>
            </a:r>
          </a:p>
        </p:txBody>
      </p:sp>
      <p:sp>
        <p:nvSpPr>
          <p:cNvPr id="18" name="metric-Strict CLIP triage-label">
            <a:extLst xmlns:a="http://schemas.openxmlformats.org/drawingml/2006/main">
              <a:ext uri="{FF2B5EF4-FFF2-40B4-BE49-F238E27FC236}">
                <a16:creationId xmlns:a16="http://schemas.microsoft.com/office/drawing/2014/main" id="{77E50975-7D4F-4DB9-AFA9-4C6E5E74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52850"/>
            <a:ext cx="13525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Strict CLIP triage</a:t>
            </a:r>
          </a:p>
        </p:txBody>
      </p:sp>
      <p:sp>
        <p:nvSpPr>
          <p:cNvPr id="19" name="metric-Strict CLIP triage-note">
            <a:extLst xmlns:a="http://schemas.openxmlformats.org/drawingml/2006/main">
              <a:ext uri="{FF2B5EF4-FFF2-40B4-BE49-F238E27FC236}">
                <a16:creationId xmlns:a16="http://schemas.microsoft.com/office/drawing/2014/main" id="{C18BB188-2915-41C0-89BD-997C4DB1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14775"/>
            <a:ext cx="13525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EAF2F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EAF2F6"/>
                </a:solidFill>
                <a:latin typeface="Aptos"/>
                <a:ea typeface="Aptos"/>
                <a:cs typeface="Aptos"/>
              </a:rPr>
              <a:t>coverage / decided-case accuracy</a:t>
            </a:r>
          </a:p>
        </p:txBody>
      </p:sp>
      <p:sp>
        <p:nvSpPr>
          <p:cNvPr id="20" name="metric-Reverse tuned fusion">
            <a:extLst xmlns:a="http://schemas.openxmlformats.org/drawingml/2006/main">
              <a:ext uri="{FF2B5EF4-FFF2-40B4-BE49-F238E27FC236}">
                <a16:creationId xmlns:a16="http://schemas.microsoft.com/office/drawing/2014/main" id="{6D6B14EE-306E-4F35-94DE-0F25D86A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67200"/>
            <a:ext cx="1600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5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metric-Reverse tuned fusion-value">
            <a:extLst xmlns:a="http://schemas.openxmlformats.org/drawingml/2006/main">
              <a:ext uri="{FF2B5EF4-FFF2-40B4-BE49-F238E27FC236}">
                <a16:creationId xmlns:a16="http://schemas.microsoft.com/office/drawing/2014/main" id="{0ED0CDD1-03FF-48E4-BE0D-CB6702F7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6245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0.763 / 0.836</a:t>
            </a:r>
          </a:p>
        </p:txBody>
      </p:sp>
      <p:sp>
        <p:nvSpPr>
          <p:cNvPr id="22" name="metric-Reverse tuned fusion-label">
            <a:extLst xmlns:a="http://schemas.openxmlformats.org/drawingml/2006/main">
              <a:ext uri="{FF2B5EF4-FFF2-40B4-BE49-F238E27FC236}">
                <a16:creationId xmlns:a16="http://schemas.microsoft.com/office/drawing/2014/main" id="{97F3FA98-00CF-40C7-AD3A-774B980A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0"/>
            <a:ext cx="13525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Reverse tuned fusion</a:t>
            </a:r>
          </a:p>
        </p:txBody>
      </p:sp>
      <p:sp>
        <p:nvSpPr>
          <p:cNvPr id="23" name="metric-Reverse tuned fusion-note">
            <a:extLst xmlns:a="http://schemas.openxmlformats.org/drawingml/2006/main">
              <a:ext uri="{FF2B5EF4-FFF2-40B4-BE49-F238E27FC236}">
                <a16:creationId xmlns:a16="http://schemas.microsoft.com/office/drawing/2014/main" id="{3262345F-FEF4-4BC0-B774-C1672751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29175"/>
            <a:ext cx="13525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EAF2F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EAF2F6"/>
                </a:solidFill>
                <a:latin typeface="Aptos"/>
                <a:ea typeface="Aptos"/>
                <a:cs typeface="Aptos"/>
              </a:rPr>
              <a:t>best capped operating point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D1C3A2-19D8-43DE-8BAE-7571C34C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00650"/>
            <a:ext cx="152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B6673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B6673"/>
                </a:solidFill>
                <a:latin typeface="Aptos"/>
                <a:ea typeface="Aptos"/>
                <a:cs typeface="Aptos"/>
              </a:rPr>
              <a:t>Working claim: same-domain wins do not guarantee transfer reliability; ranking, calibration, fake-call rate, and triage split under source shift.</a:t>
            </a:r>
          </a:p>
        </p:txBody>
      </p:sp>
      <p:sp>
        <p:nvSpPr>
          <p:cNvPr id="25" name="transfer-panel-frame">
            <a:extLst xmlns:a="http://schemas.openxmlformats.org/drawingml/2006/main">
              <a:ext uri="{FF2B5EF4-FFF2-40B4-BE49-F238E27FC236}">
                <a16:creationId xmlns:a16="http://schemas.microsoft.com/office/drawing/2014/main" id="{FFCB3C10-BA12-4C10-A235-4C9BFC99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200150"/>
            <a:ext cx="66675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0a78d54d654a78"/>
          <a:stretch xmlns:a="http://schemas.openxmlformats.org/drawingml/2006/main"/>
        </p:blipFill>
        <p:spPr>
          <a:xfrm xmlns:a="http://schemas.openxmlformats.org/drawingml/2006/main">
            <a:off x="3287694" y="1314450"/>
            <a:ext cx="4473612" cy="2095500"/>
          </a:xfrm>
          <a:prstGeom xmlns:a="http://schemas.openxmlformats.org/drawingml/2006/main" prst="rect">
            <a:avLst/>
          </a:prstGeom>
        </p:spPr>
      </p:pic>
      <p:sp>
        <p:nvSpPr>
          <p:cNvPr id="27" name="robustness-panel-frame">
            <a:extLst xmlns:a="http://schemas.openxmlformats.org/drawingml/2006/main">
              <a:ext uri="{FF2B5EF4-FFF2-40B4-BE49-F238E27FC236}">
                <a16:creationId xmlns:a16="http://schemas.microsoft.com/office/drawing/2014/main" id="{BA09B958-DFB2-4072-ABAE-B6629B97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05225"/>
            <a:ext cx="66675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ac11155a474a79"/>
          <a:stretch xmlns:a="http://schemas.openxmlformats.org/drawingml/2006/main"/>
        </p:blipFill>
        <p:spPr>
          <a:xfrm xmlns:a="http://schemas.openxmlformats.org/drawingml/2006/main">
            <a:off x="3071250" y="3819525"/>
            <a:ext cx="4906500" cy="209550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2AAF66-93B0-49D9-A7F1-2F9C6F56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2192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2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3202C"/>
                </a:solidFill>
                <a:latin typeface="Aptos Display"/>
                <a:ea typeface="Aptos Display"/>
                <a:cs typeface="Aptos Display"/>
              </a:rPr>
              <a:t>What This Means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A6804C-CF8B-4A58-9376-C87999EC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600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7C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8A985D-85F9-4A74-866B-2F2F72B8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5621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3202C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3202C"/>
                </a:solidFill>
                <a:latin typeface="Aptos"/>
                <a:ea typeface="Aptos"/>
                <a:cs typeface="Aptos"/>
              </a:rPr>
              <a:t>CLIP is the transfer frontier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617D13-ED61-41A4-916C-82E79569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7335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B6673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B6673"/>
                </a:solidFill>
                <a:latin typeface="Aptos"/>
                <a:ea typeface="Aptos"/>
                <a:cs typeface="Aptos"/>
              </a:rPr>
              <a:t>The current strongest standalone cross-domain ranker is frozen CLIP, not score fusion.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823648-C1AC-4716-A5F5-A6DDFAC4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43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573549-1F45-40ED-B5A4-ADE516FE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050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3202C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3202C"/>
                </a:solidFill>
                <a:latin typeface="Aptos"/>
                <a:ea typeface="Aptos"/>
                <a:cs typeface="Aptos"/>
              </a:rPr>
              <a:t>Physics helps the anchor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A9C23C-43B4-43A8-A243-61CFB77C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765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B6673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B6673"/>
                </a:solidFill>
                <a:latin typeface="Aptos"/>
                <a:ea typeface="Aptos"/>
                <a:cs typeface="Aptos"/>
              </a:rPr>
              <a:t>Physics-guided ResNet improves the same-domain Ishu result and remains interpretable.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59BBAC-C05C-4DC8-A5A7-66AD004C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861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10EC3C-9196-4D4A-AD69-BC689F72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480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3202C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3202C"/>
                </a:solidFill>
                <a:latin typeface="Aptos"/>
                <a:ea typeface="Aptos"/>
                <a:cs typeface="Aptos"/>
              </a:rPr>
              <a:t>Triage is the forensic story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81B363-BD59-492F-A4EB-ED39F6DE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194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B6673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B6673"/>
                </a:solidFill>
                <a:latin typeface="Aptos"/>
                <a:ea typeface="Aptos"/>
                <a:cs typeface="Aptos"/>
              </a:rPr>
              <a:t>High-confidence two-threshold decisions are cleaner than forcing every image through 0.5.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80267A-9275-4C51-9515-95D36323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829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3A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FA25213-4ABB-4274-9CDD-D827448F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790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3202C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3202C"/>
                </a:solidFill>
                <a:latin typeface="Aptos"/>
                <a:ea typeface="Aptos"/>
                <a:cs typeface="Aptos"/>
              </a:rPr>
              <a:t>Do not overclaim robustness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A373FFC-705E-4F5A-B298-534B361B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9624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B6673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B6673"/>
                </a:solidFill>
                <a:latin typeface="Aptos"/>
                <a:ea typeface="Aptos"/>
                <a:cs typeface="Aptos"/>
              </a:rPr>
              <a:t>JPEG30, blur, resize, and screenshots still move the operating point.</a:t>
            </a:r>
          </a:p>
        </p:txBody>
      </p:sp>
      <p:sp>
        <p:nvSpPr>
          <p:cNvPr id="42" name="next-gap-callout">
            <a:extLst xmlns:a="http://schemas.openxmlformats.org/drawingml/2006/main">
              <a:ext uri="{FF2B5EF4-FFF2-40B4-BE49-F238E27FC236}">
                <a16:creationId xmlns:a16="http://schemas.microsoft.com/office/drawing/2014/main" id="{820DDB12-9B7E-4F66-B227-688F92E6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705350"/>
            <a:ext cx="21145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8"/>
          </a:solidFill>
          <a:ln xmlns:a="http://schemas.openxmlformats.org/drawingml/2006/main" w="9525">
            <a:solidFill>
              <a:srgbClr val="E2C19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23B5790-2A3D-4B20-9072-70863709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8577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A4C0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4C0F"/>
                </a:solidFill>
                <a:latin typeface="Aptos"/>
                <a:ea typeface="Aptos"/>
                <a:cs typeface="Aptos"/>
              </a:rPr>
              <a:t>Next Paper-Critical Step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2A0D93F-C1CC-4FCD-B6BB-71219DB8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057775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A4B23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A4B23"/>
                </a:solidFill>
                <a:latin typeface="Aptos"/>
                <a:ea typeface="Aptos"/>
                <a:cs typeface="Aptos"/>
              </a:rPr>
              <a:t>Run the full repeated-seed combined_v4 transfer check, then decide whether v4 joins the main method or stays an ablation.</a:t>
            </a:r>
          </a:p>
        </p:txBody>
      </p:sp>
      <p:sp>
        <p:nvSpPr>
          <p:cNvPr id="45" name="footer-band">
            <a:extLst xmlns:a="http://schemas.openxmlformats.org/drawingml/2006/main">
              <a:ext uri="{FF2B5EF4-FFF2-40B4-BE49-F238E27FC236}">
                <a16:creationId xmlns:a16="http://schemas.microsoft.com/office/drawing/2014/main" id="{BAEA3CB6-1BB7-4E0B-9177-F590D76E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4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2FB2560-0032-47D7-BB1F-CFBF9ECE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53200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B6673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B6673"/>
                </a:solidFill>
                <a:latin typeface="Aptos"/>
                <a:ea typeface="Aptos"/>
                <a:cs typeface="Aptos"/>
              </a:rPr>
              <a:t>Sources: reports/assets/publication_core_results.csv; reports/dfrws_poster_native_figures_2026_06_13.md; public repo github.com/DrStrangel0ve/ai-image-forensics-comparison</a:t>
            </a:r>
          </a:p>
        </p:txBody>
      </p:sp>
      <p:sp>
        <p:nvSpPr>
          <p:cNvPr id="47" name="caveat-footer">
            <a:extLst xmlns:a="http://schemas.openxmlformats.org/drawingml/2006/main">
              <a:ext uri="{FF2B5EF4-FFF2-40B4-BE49-F238E27FC236}">
                <a16:creationId xmlns:a16="http://schemas.microsoft.com/office/drawing/2014/main" id="{DDC0C5B0-2C8D-42D1-B4F3-7110629F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5795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60" b="0">
                <a:solidFill>
                  <a:srgbClr val="8A4C0F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8A4C0F"/>
                </a:solidFill>
                <a:latin typeface="Aptos"/>
                <a:ea typeface="Aptos"/>
                <a:cs typeface="Aptos"/>
              </a:rPr>
              <a:t>Caveat: single-image photometric proxy, not true multi-light photometric stereo.</a:t>
            </a:r>
          </a:p>
        </p:txBody>
      </p:sp>
    </p:spTree>
    <p:extLst>
      <p:ext uri="{BB962C8B-B14F-4D97-AF65-F5344CB8AC3E}">
        <p14:creationId xmlns:p14="http://schemas.microsoft.com/office/powerpoint/2010/main" val="4453044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2026-06-13T10:47:03.8920000Z</dcterms:created>
  <dcterms:modified xsi:type="dcterms:W3CDTF">2026-06-13T10:47:03.8920000Z</dcterms:modified>
</coreProperties>
</file>